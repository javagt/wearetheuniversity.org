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8"/>
  </p:notesMasterIdLst>
  <p:sldIdLst>
    <p:sldId id="266" r:id="rId6"/>
    <p:sldId id="286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38F88-C0E8-46AE-A231-C174BBFA9DE5}" type="datetimeFigureOut">
              <a:rPr lang="en-NZ" smtClean="0"/>
              <a:t>5/04/2024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D87E7-9D79-42F5-93CB-1A65C028725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40329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D87E7-9D79-42F5-93CB-1A65C0287250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48499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2F559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F559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F559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405" y="1121663"/>
            <a:ext cx="5312410" cy="3439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2F559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F559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5405" y="111251"/>
            <a:ext cx="10878879" cy="1009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2F559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15941" y="1237102"/>
            <a:ext cx="6325234" cy="478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415" y="6428920"/>
            <a:ext cx="2444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34" y="354075"/>
            <a:ext cx="33286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/>
              <a:t>Current </a:t>
            </a:r>
            <a:r>
              <a:rPr sz="2800" spc="-10"/>
              <a:t>Situation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4294" y="3450957"/>
            <a:ext cx="4444297" cy="29110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9241" y="920496"/>
            <a:ext cx="11748274" cy="2328073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12700">
              <a:spcBef>
                <a:spcPts val="675"/>
              </a:spcBef>
            </a:pPr>
            <a:r>
              <a:rPr lang="en-US" sz="1100" b="1" dirty="0">
                <a:solidFill>
                  <a:srgbClr val="2F5597"/>
                </a:solidFill>
                <a:latin typeface="Arial"/>
                <a:cs typeface="Arial"/>
              </a:rPr>
              <a:t>Arts,</a:t>
            </a:r>
            <a:r>
              <a:rPr lang="en-US" sz="1100" b="1" spc="-35" dirty="0">
                <a:solidFill>
                  <a:srgbClr val="2F5597"/>
                </a:solidFill>
                <a:latin typeface="Arial"/>
                <a:cs typeface="Arial"/>
              </a:rPr>
              <a:t> </a:t>
            </a:r>
            <a:r>
              <a:rPr lang="en-US" sz="1100" b="1" dirty="0">
                <a:solidFill>
                  <a:srgbClr val="2F5597"/>
                </a:solidFill>
                <a:latin typeface="Arial"/>
                <a:cs typeface="Arial"/>
              </a:rPr>
              <a:t>Education</a:t>
            </a:r>
            <a:r>
              <a:rPr lang="en-US" sz="1100" b="1" spc="-10" dirty="0">
                <a:solidFill>
                  <a:srgbClr val="2F5597"/>
                </a:solidFill>
                <a:latin typeface="Arial"/>
                <a:cs typeface="Arial"/>
              </a:rPr>
              <a:t> </a:t>
            </a:r>
            <a:r>
              <a:rPr lang="en-US" sz="1100" b="1" dirty="0">
                <a:solidFill>
                  <a:srgbClr val="2F5597"/>
                </a:solidFill>
                <a:latin typeface="Arial"/>
                <a:cs typeface="Arial"/>
              </a:rPr>
              <a:t>and</a:t>
            </a:r>
            <a:r>
              <a:rPr lang="en-US" sz="1100" b="1" spc="-15" dirty="0">
                <a:solidFill>
                  <a:srgbClr val="2F5597"/>
                </a:solidFill>
                <a:latin typeface="Arial"/>
                <a:cs typeface="Arial"/>
              </a:rPr>
              <a:t> </a:t>
            </a:r>
            <a:r>
              <a:rPr lang="en-US" sz="1100" b="1" dirty="0">
                <a:solidFill>
                  <a:srgbClr val="2F5597"/>
                </a:solidFill>
                <a:latin typeface="Arial"/>
                <a:cs typeface="Arial"/>
              </a:rPr>
              <a:t>Social</a:t>
            </a:r>
            <a:r>
              <a:rPr lang="en-US" sz="1100" b="1" spc="-20" dirty="0">
                <a:solidFill>
                  <a:srgbClr val="2F5597"/>
                </a:solidFill>
                <a:latin typeface="Arial"/>
                <a:cs typeface="Arial"/>
              </a:rPr>
              <a:t> </a:t>
            </a:r>
            <a:r>
              <a:rPr lang="en-US" sz="1100" b="1" dirty="0">
                <a:solidFill>
                  <a:srgbClr val="2F5597"/>
                </a:solidFill>
                <a:latin typeface="Arial"/>
                <a:cs typeface="Arial"/>
              </a:rPr>
              <a:t>Work,</a:t>
            </a:r>
            <a:r>
              <a:rPr lang="en-US" sz="1100" b="1" spc="-25" dirty="0">
                <a:solidFill>
                  <a:srgbClr val="2F5597"/>
                </a:solidFill>
                <a:latin typeface="Arial"/>
                <a:cs typeface="Arial"/>
              </a:rPr>
              <a:t> </a:t>
            </a:r>
            <a:r>
              <a:rPr lang="en-US" sz="1100" b="1" dirty="0">
                <a:solidFill>
                  <a:srgbClr val="2F5597"/>
                </a:solidFill>
                <a:latin typeface="Arial"/>
                <a:cs typeface="Arial"/>
              </a:rPr>
              <a:t>Creative</a:t>
            </a:r>
            <a:r>
              <a:rPr lang="en-US" sz="1100" b="1" spc="-15" dirty="0">
                <a:solidFill>
                  <a:srgbClr val="2F5597"/>
                </a:solidFill>
                <a:latin typeface="Arial"/>
                <a:cs typeface="Arial"/>
              </a:rPr>
              <a:t> </a:t>
            </a:r>
            <a:r>
              <a:rPr lang="en-US" sz="1100" b="1" dirty="0">
                <a:solidFill>
                  <a:srgbClr val="2F5597"/>
                </a:solidFill>
                <a:latin typeface="Arial"/>
                <a:cs typeface="Arial"/>
              </a:rPr>
              <a:t>Arts</a:t>
            </a:r>
            <a:r>
              <a:rPr lang="en-US" sz="1100" b="1" spc="-20" dirty="0">
                <a:solidFill>
                  <a:srgbClr val="2F5597"/>
                </a:solidFill>
                <a:latin typeface="Arial"/>
                <a:cs typeface="Arial"/>
              </a:rPr>
              <a:t> </a:t>
            </a:r>
            <a:r>
              <a:rPr lang="en-US" sz="1100" b="1" dirty="0">
                <a:solidFill>
                  <a:srgbClr val="2F5597"/>
                </a:solidFill>
                <a:latin typeface="Arial"/>
                <a:cs typeface="Arial"/>
              </a:rPr>
              <a:t>and</a:t>
            </a:r>
            <a:r>
              <a:rPr lang="en-US" sz="1100" b="1" spc="-10" dirty="0">
                <a:solidFill>
                  <a:srgbClr val="2F5597"/>
                </a:solidFill>
                <a:latin typeface="Arial"/>
                <a:cs typeface="Arial"/>
              </a:rPr>
              <a:t> Industries</a:t>
            </a:r>
            <a:endParaRPr lang="en-US" sz="1100" dirty="0">
              <a:latin typeface="Arial"/>
              <a:cs typeface="Arial"/>
            </a:endParaRPr>
          </a:p>
          <a:p>
            <a:pPr marL="12700" marR="5763895">
              <a:lnSpc>
                <a:spcPct val="100499"/>
              </a:lnSpc>
              <a:spcBef>
                <a:spcPts val="570"/>
              </a:spcBef>
            </a:pPr>
            <a:r>
              <a:rPr lang="en-US" sz="1100" dirty="0">
                <a:latin typeface="Arial"/>
                <a:cs typeface="Arial"/>
              </a:rPr>
              <a:t>The</a:t>
            </a:r>
            <a:r>
              <a:rPr lang="en-US" sz="1100" spc="-2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current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environment</a:t>
            </a:r>
            <a:r>
              <a:rPr lang="en-US" sz="1100" spc="-2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for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Arts,</a:t>
            </a:r>
            <a:r>
              <a:rPr lang="en-US" sz="1100" spc="-2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Humanities,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Education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and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Social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spc="-10" dirty="0">
                <a:latin typeface="Arial"/>
                <a:cs typeface="Arial"/>
              </a:rPr>
              <a:t>Sciences</a:t>
            </a:r>
            <a:r>
              <a:rPr lang="en-US" sz="1100" spc="50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in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New Zealand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is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challenging.</a:t>
            </a:r>
            <a:r>
              <a:rPr lang="en-US" sz="1100" spc="29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Despite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highest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quality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of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teaching </a:t>
            </a:r>
            <a:r>
              <a:rPr lang="en-US" sz="1100" spc="-25" dirty="0">
                <a:latin typeface="Arial"/>
                <a:cs typeface="Arial"/>
              </a:rPr>
              <a:t>and </a:t>
            </a:r>
            <a:r>
              <a:rPr lang="en-US" sz="1100" dirty="0">
                <a:latin typeface="Arial"/>
                <a:cs typeface="Arial"/>
              </a:rPr>
              <a:t>research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 err="1">
                <a:latin typeface="Arial"/>
                <a:cs typeface="Arial"/>
              </a:rPr>
              <a:t>programmes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in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these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disciplines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at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University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of</a:t>
            </a:r>
            <a:r>
              <a:rPr lang="en-US" sz="1100" spc="-2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Auckland,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there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spc="-25" dirty="0">
                <a:latin typeface="Arial"/>
                <a:cs typeface="Arial"/>
              </a:rPr>
              <a:t>has </a:t>
            </a:r>
            <a:r>
              <a:rPr lang="en-US" sz="1100" dirty="0">
                <a:latin typeface="Arial"/>
                <a:cs typeface="Arial"/>
              </a:rPr>
              <a:t>been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gradual decline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in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demand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over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last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10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years,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which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is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impacting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on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spc="-25" dirty="0">
                <a:latin typeface="Arial"/>
                <a:cs typeface="Arial"/>
              </a:rPr>
              <a:t>the </a:t>
            </a:r>
            <a:r>
              <a:rPr lang="en-US" sz="1100" dirty="0">
                <a:latin typeface="Arial"/>
                <a:cs typeface="Arial"/>
              </a:rPr>
              <a:t>access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to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funding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and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resources.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These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disciplines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remain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at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core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of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spc="-25" dirty="0">
                <a:latin typeface="Arial"/>
                <a:cs typeface="Arial"/>
              </a:rPr>
              <a:t>the </a:t>
            </a:r>
            <a:r>
              <a:rPr lang="en-US" sz="1100" dirty="0">
                <a:latin typeface="Arial"/>
                <a:cs typeface="Arial"/>
              </a:rPr>
              <a:t>identity</a:t>
            </a:r>
            <a:r>
              <a:rPr lang="en-US" sz="1100" spc="-3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and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success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of</a:t>
            </a:r>
            <a:r>
              <a:rPr lang="en-US" sz="1100" spc="-2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University.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They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are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high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performing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in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terms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spc="-25" dirty="0">
                <a:latin typeface="Arial"/>
                <a:cs typeface="Arial"/>
              </a:rPr>
              <a:t>of </a:t>
            </a:r>
            <a:r>
              <a:rPr lang="en-US" sz="1100" dirty="0">
                <a:latin typeface="Arial"/>
                <a:cs typeface="Arial"/>
              </a:rPr>
              <a:t>research</a:t>
            </a:r>
            <a:r>
              <a:rPr lang="en-US" sz="1100" spc="-2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output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and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rankings,</a:t>
            </a:r>
            <a:r>
              <a:rPr lang="en-US" sz="1100" spc="-2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and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subjects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predominantly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taught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out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of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spc="-25" dirty="0">
                <a:latin typeface="Arial"/>
                <a:cs typeface="Arial"/>
              </a:rPr>
              <a:t>the </a:t>
            </a:r>
            <a:r>
              <a:rPr lang="en-US" sz="1100" dirty="0">
                <a:latin typeface="Arial"/>
                <a:cs typeface="Arial"/>
              </a:rPr>
              <a:t>faculties</a:t>
            </a:r>
            <a:r>
              <a:rPr lang="en-US" sz="1100" spc="-3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of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Arts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and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Education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and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Social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Work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are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constantly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ranked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higher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spc="-20" dirty="0">
                <a:latin typeface="Arial"/>
                <a:cs typeface="Arial"/>
              </a:rPr>
              <a:t>than </a:t>
            </a:r>
            <a:r>
              <a:rPr lang="en-US" sz="1100" dirty="0">
                <a:latin typeface="Arial"/>
                <a:cs typeface="Arial"/>
              </a:rPr>
              <a:t>other</a:t>
            </a:r>
            <a:r>
              <a:rPr lang="en-US" sz="1100" spc="-2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subjects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in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University,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and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higher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than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other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New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Zealand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spc="-10" dirty="0">
                <a:latin typeface="Arial"/>
                <a:cs typeface="Arial"/>
              </a:rPr>
              <a:t>Universities.</a:t>
            </a:r>
            <a:endParaRPr lang="en-US" sz="1100" dirty="0">
              <a:latin typeface="Arial"/>
              <a:cs typeface="Arial"/>
            </a:endParaRPr>
          </a:p>
          <a:p>
            <a:pPr marL="12700">
              <a:lnSpc>
                <a:spcPts val="1295"/>
              </a:lnSpc>
            </a:pPr>
            <a:r>
              <a:rPr lang="en-US" sz="1100" dirty="0">
                <a:latin typeface="Arial"/>
                <a:cs typeface="Arial"/>
              </a:rPr>
              <a:t>See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charts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in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Appendix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spc="-25" dirty="0">
                <a:latin typeface="Arial"/>
                <a:cs typeface="Arial"/>
              </a:rPr>
              <a:t>1.</a:t>
            </a:r>
            <a:endParaRPr lang="en-US" sz="1100" dirty="0">
              <a:latin typeface="Arial"/>
              <a:cs typeface="Arial"/>
            </a:endParaRPr>
          </a:p>
          <a:p>
            <a:pPr marL="12700" marR="5816600">
              <a:lnSpc>
                <a:spcPct val="105500"/>
              </a:lnSpc>
              <a:spcBef>
                <a:spcPts val="500"/>
              </a:spcBef>
            </a:pPr>
            <a:r>
              <a:rPr lang="en-US" sz="1100" dirty="0">
                <a:latin typeface="Arial"/>
                <a:cs typeface="Arial"/>
              </a:rPr>
              <a:t>Despite</a:t>
            </a:r>
            <a:r>
              <a:rPr lang="en-US" sz="1100" spc="-2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unquestionable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strengths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of</a:t>
            </a:r>
            <a:r>
              <a:rPr lang="en-US" sz="1100" spc="-2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faculties,</a:t>
            </a:r>
            <a:r>
              <a:rPr lang="en-US" sz="1100" spc="-2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student</a:t>
            </a:r>
            <a:r>
              <a:rPr lang="en-US" sz="1100" spc="-2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demand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for</a:t>
            </a:r>
            <a:r>
              <a:rPr lang="en-US" sz="1100" spc="-2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the</a:t>
            </a:r>
            <a:r>
              <a:rPr lang="en-US" sz="1100" spc="-10" dirty="0">
                <a:latin typeface="Arial"/>
                <a:cs typeface="Arial"/>
              </a:rPr>
              <a:t> arts, </a:t>
            </a:r>
            <a:r>
              <a:rPr lang="en-US" sz="1100" dirty="0">
                <a:latin typeface="Arial"/>
                <a:cs typeface="Arial"/>
              </a:rPr>
              <a:t>humanities,</a:t>
            </a:r>
            <a:r>
              <a:rPr lang="en-US" sz="1100" spc="-30" dirty="0">
                <a:latin typeface="Arial"/>
                <a:cs typeface="Arial"/>
              </a:rPr>
              <a:t> </a:t>
            </a:r>
            <a:endParaRPr lang="en-US" sz="1100" dirty="0">
              <a:latin typeface="Arial"/>
              <a:cs typeface="Arial"/>
            </a:endParaRPr>
          </a:p>
          <a:p>
            <a:pPr marL="12700" marR="5816600">
              <a:lnSpc>
                <a:spcPct val="105500"/>
              </a:lnSpc>
              <a:spcBef>
                <a:spcPts val="500"/>
              </a:spcBef>
            </a:pPr>
            <a:r>
              <a:rPr lang="en-US" sz="1100" dirty="0">
                <a:latin typeface="Arial"/>
                <a:cs typeface="Arial"/>
              </a:rPr>
              <a:t>education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and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social</a:t>
            </a:r>
            <a:r>
              <a:rPr lang="en-US" sz="1100" spc="-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sciences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has</a:t>
            </a:r>
            <a:r>
              <a:rPr lang="en-US" sz="1100" spc="-15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been</a:t>
            </a:r>
            <a:r>
              <a:rPr lang="en-US" sz="1100" spc="-10" dirty="0">
                <a:latin typeface="Arial"/>
                <a:cs typeface="Arial"/>
              </a:rPr>
              <a:t> </a:t>
            </a:r>
            <a:r>
              <a:rPr lang="en-US" sz="1100" dirty="0">
                <a:latin typeface="Arial"/>
                <a:cs typeface="Arial"/>
              </a:rPr>
              <a:t>steadily</a:t>
            </a:r>
            <a:r>
              <a:rPr lang="en-US" sz="1100" spc="-10" dirty="0">
                <a:latin typeface="Arial"/>
                <a:cs typeface="Arial"/>
              </a:rPr>
              <a:t> declining: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43378" y="525541"/>
            <a:ext cx="50165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Student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demand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declined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CAI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disciplines </a:t>
            </a:r>
            <a:r>
              <a:rPr sz="1100" dirty="0">
                <a:latin typeface="Arial"/>
                <a:cs typeface="Arial"/>
              </a:rPr>
              <a:t>have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been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stable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10" dirty="0">
                <a:latin typeface="Arial"/>
                <a:cs typeface="Arial"/>
              </a:rPr>
              <a:t> growing</a:t>
            </a:r>
            <a:r>
              <a:rPr sz="1100" i="1" spc="-10" dirty="0">
                <a:latin typeface="Arial"/>
                <a:cs typeface="Arial"/>
              </a:rPr>
              <a:t>: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13873" y="4190918"/>
            <a:ext cx="5818505" cy="2321560"/>
            <a:chOff x="5813873" y="4190918"/>
            <a:chExt cx="5818505" cy="23215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3873" y="4216370"/>
              <a:ext cx="2940067" cy="22619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30455" y="4190918"/>
              <a:ext cx="3001302" cy="2321076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15960" y="919865"/>
            <a:ext cx="4053403" cy="239761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639937" y="6438064"/>
            <a:ext cx="18097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25">
                <a:solidFill>
                  <a:srgbClr val="898989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C38AFA-E981-B421-8ABB-A20D3FE3D521}"/>
              </a:ext>
            </a:extLst>
          </p:cNvPr>
          <p:cNvSpPr txBox="1"/>
          <p:nvPr/>
        </p:nvSpPr>
        <p:spPr>
          <a:xfrm>
            <a:off x="6097941" y="3431587"/>
            <a:ext cx="5643717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>
                <a:latin typeface="Arial"/>
                <a:cs typeface="Calibri"/>
              </a:rPr>
              <a:t>This trend is apparent across the New Zealand University sector in Arts and</a:t>
            </a:r>
            <a:endParaRPr lang="en-US" sz="1100" dirty="0">
              <a:solidFill>
                <a:srgbClr val="000000"/>
              </a:solidFill>
              <a:latin typeface="Arial"/>
              <a:cs typeface="Calibri"/>
            </a:endParaRPr>
          </a:p>
          <a:p>
            <a:pPr algn="l"/>
            <a:r>
              <a:rPr lang="en-US" sz="1100" dirty="0">
                <a:latin typeface="Arial"/>
                <a:cs typeface="Calibri"/>
              </a:rPr>
              <a:t>Education, but in some disciplines the University of Auckland is losing share of students</a:t>
            </a:r>
          </a:p>
          <a:p>
            <a:pPr algn="l"/>
            <a:r>
              <a:rPr lang="en-US" sz="1100" dirty="0">
                <a:latin typeface="Arial"/>
                <a:cs typeface="Calibri"/>
              </a:rPr>
              <a:t>at a faster rate: we are taking a smaller proportion of a shrinking pool. Further </a:t>
            </a:r>
            <a:r>
              <a:rPr lang="en-US" sz="1100" dirty="0">
                <a:latin typeface="Arial"/>
                <a:cs typeface="Arial"/>
              </a:rPr>
              <a:t>charts</a:t>
            </a:r>
            <a:r>
              <a:rPr lang="en-US" sz="1100" dirty="0">
                <a:latin typeface="Arial"/>
                <a:cs typeface="Calibri"/>
              </a:rPr>
              <a:t> in Appendix 1.</a:t>
            </a: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731" y="425195"/>
            <a:ext cx="86601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36290" algn="l"/>
                <a:tab pos="3833495" algn="l"/>
              </a:tabLst>
            </a:pPr>
            <a:r>
              <a:t>Appendix</a:t>
            </a:r>
            <a:r>
              <a:rPr spc="-20"/>
              <a:t> </a:t>
            </a:r>
            <a:r>
              <a:rPr spc="-50"/>
              <a:t>1</a:t>
            </a:r>
            <a:r>
              <a:t>	</a:t>
            </a:r>
            <a:r>
              <a:rPr spc="-50"/>
              <a:t>-</a:t>
            </a:r>
            <a:r>
              <a:t>	Research</a:t>
            </a:r>
            <a:r>
              <a:rPr spc="-15"/>
              <a:t> </a:t>
            </a:r>
            <a:r>
              <a:rPr spc="-10"/>
              <a:t>Outputs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7886" y="2045600"/>
            <a:ext cx="2594221" cy="22531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11244" y="1526540"/>
            <a:ext cx="1746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latin typeface="Calibri"/>
                <a:cs typeface="Calibri"/>
              </a:rPr>
              <a:t>Research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Rankings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095" y="1486915"/>
            <a:ext cx="18313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latin typeface="Calibri"/>
                <a:cs typeface="Calibri"/>
              </a:rPr>
              <a:t>QS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Subject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Outputs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8740" y="1453388"/>
            <a:ext cx="1151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latin typeface="Calibri"/>
                <a:cs typeface="Calibri"/>
              </a:rPr>
              <a:t>QS </a:t>
            </a:r>
            <a:r>
              <a:rPr sz="1800" spc="-10">
                <a:latin typeface="Calibri"/>
                <a:cs typeface="Calibri"/>
              </a:rPr>
              <a:t>Citations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459" y="1812626"/>
            <a:ext cx="4237595" cy="386205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97569" y="1786140"/>
            <a:ext cx="4601702" cy="395477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</a:t>
            </a:fld>
            <a:endParaRPr spc="-2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9EDED2D9F55244A97C028DF6CB5C66" ma:contentTypeVersion="9" ma:contentTypeDescription="Create a new document." ma:contentTypeScope="" ma:versionID="70fcb35dc79fc19188c2f9135cbe376f">
  <xsd:schema xmlns:xsd="http://www.w3.org/2001/XMLSchema" xmlns:xs="http://www.w3.org/2001/XMLSchema" xmlns:p="http://schemas.microsoft.com/office/2006/metadata/properties" xmlns:ns2="01873c3c-c942-4a10-a7cf-88667356e0df" xmlns:ns3="a43f5a4c-e706-4303-b17b-ee669e501094" targetNamespace="http://schemas.microsoft.com/office/2006/metadata/properties" ma:root="true" ma:fieldsID="c6755c7895081e310c6dea1a90c9cb75" ns2:_="" ns3:_="">
    <xsd:import namespace="01873c3c-c942-4a10-a7cf-88667356e0df"/>
    <xsd:import namespace="a43f5a4c-e706-4303-b17b-ee669e5010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873c3c-c942-4a10-a7cf-88667356e0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f5a4c-e706-4303-b17b-ee669e50109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43f5a4c-e706-4303-b17b-ee669e501094">
      <UserInfo>
        <DisplayName>Katherine Burson</DisplayName>
        <AccountId>49</AccountId>
        <AccountType/>
      </UserInfo>
      <UserInfo>
        <DisplayName>Stefanie Boyer</DisplayName>
        <AccountId>38</AccountId>
        <AccountType/>
      </UserInfo>
      <UserInfo>
        <DisplayName>Kerryn Patten</DisplayName>
        <AccountId>14</AccountId>
        <AccountType/>
      </UserInfo>
    </SharedWithUsers>
  </documentManagement>
</p:properties>
</file>

<file path=customXml/item3.xml><?xml version="1.0" encoding="utf-8"?>
<?mso-contentType ?>
<SharedContentType xmlns="Microsoft.SharePoint.Taxonomy.ContentTypeSync" SourceId="c5e9cd7a-283a-407b-9b45-84d2c2056e08" ContentTypeId="0x0101" PreviousValue="fals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277E5B-9BA7-49C5-B161-8F3ECD3EED35}">
  <ds:schemaRefs>
    <ds:schemaRef ds:uri="01873c3c-c942-4a10-a7cf-88667356e0df"/>
    <ds:schemaRef ds:uri="a43f5a4c-e706-4303-b17b-ee669e5010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F24677D-24BC-42B0-9D4E-882758EFE868}">
  <ds:schemaRefs>
    <ds:schemaRef ds:uri="a43f5a4c-e706-4303-b17b-ee669e501094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01873c3c-c942-4a10-a7cf-88667356e0df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D53FC60-3769-4C0B-BA5D-5B1CBA551775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7BDA66D2-5D2A-4DDF-A0F7-8798E20F8AB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1b36e95-0d50-42e9-958f-b63fa906beaa}" enabled="0" method="" siteId="{d1b36e95-0d50-42e9-958f-b63fa906be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</TotalTime>
  <Words>253</Words>
  <Application>Microsoft Office PowerPoint</Application>
  <PresentationFormat>Widescreen</PresentationFormat>
  <Paragraphs>17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Current Situation</vt:lpstr>
      <vt:lpstr>Appendix 1 - Research Outputs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Situation</dc:title>
  <dc:creator>Katherine Burson</dc:creator>
  <cp:lastModifiedBy>Katherine Burson</cp:lastModifiedBy>
  <cp:revision>6</cp:revision>
  <dcterms:created xsi:type="dcterms:W3CDTF">2024-04-03T07:45:03Z</dcterms:created>
  <dcterms:modified xsi:type="dcterms:W3CDTF">2024-04-05T01:58:10Z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2024-03-14T00:00:00Z</vt:filetime>
  </property>
  <property fmtid="{D5CDD505-2E9C-101B-9397-08002B2CF9AE}" pid="3" name="LastSaved">
    <vt:filetime>2024-04-03T00:00:00Z</vt:filetime>
  </property>
  <property fmtid="{D5CDD505-2E9C-101B-9397-08002B2CF9AE}" pid="4" name="Producer">
    <vt:lpwstr>macOS Version 14.3.1 (Build 23D60) Quartz PDFContext</vt:lpwstr>
  </property>
  <property fmtid="{D5CDD505-2E9C-101B-9397-08002B2CF9AE}" pid="5" name="ContentTypeId">
    <vt:lpwstr>0x010100DD9EDED2D9F55244A97C028DF6CB5C66</vt:lpwstr>
  </property>
</Properties>
</file>